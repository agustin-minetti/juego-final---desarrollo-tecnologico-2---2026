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2DB6FF56-E9F0-099B-32A0-A8353E47AAA7}">
          <p14:sldIdLst>
            <p14:sldId id="256"/>
            <p14:sldId id="257"/>
          </p14:sldIdLst>
        </p14:section>
        <p14:section name="Mecánicas" id="{15DA21C7-0949-5FB0-DF53-ECA7073074B2}">
          <p14:sldIdLst>
            <p14:sldId id="258"/>
            <p14:sldId id="259"/>
            <p14:sldId id="260"/>
            <p14:sldId id="261"/>
            <p14:sldId id="262"/>
          </p14:sldIdLst>
        </p14:section>
        <p14:section name="Niveles" id="{0122605F-E71E-8842-86FF-92FFCAFA4BC6}">
          <p14:sldIdLst>
            <p14:sldId id="263"/>
            <p14:sldId id="264"/>
            <p14:sldId id="265"/>
            <p14:sldId id="266"/>
            <p14:sldId id="267"/>
          </p14:sldIdLst>
        </p14:section>
        <p14:section name="Cierre" id="{F780C9D0-8639-BA88-9F06-A9282E6DB54C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7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gus minetti" userId="018d2611e2661143" providerId="LiveId" clId="{AD236E4E-3D7F-4652-8633-67BFCF2E5FF1}"/>
    <pc:docChg chg="custSel modSld">
      <pc:chgData name="agus minetti" userId="018d2611e2661143" providerId="LiveId" clId="{AD236E4E-3D7F-4652-8633-67BFCF2E5FF1}" dt="2026-10-23T00:29:10.010" v="3" actId="21"/>
      <pc:docMkLst>
        <pc:docMk/>
      </pc:docMkLst>
      <pc:sldChg chg="addSp delSp modSp mod">
        <pc:chgData name="agus minetti" userId="018d2611e2661143" providerId="LiveId" clId="{AD236E4E-3D7F-4652-8633-67BFCF2E5FF1}" dt="2026-10-23T00:29:10.010" v="3" actId="21"/>
        <pc:sldMkLst>
          <pc:docMk/>
          <pc:sldMk cId="0" sldId="268"/>
        </pc:sldMkLst>
        <pc:spChg chg="del mod">
          <ac:chgData name="agus minetti" userId="018d2611e2661143" providerId="LiveId" clId="{AD236E4E-3D7F-4652-8633-67BFCF2E5FF1}" dt="2026-10-23T00:29:00.971" v="2" actId="478"/>
          <ac:spMkLst>
            <pc:docMk/>
            <pc:sldMk cId="0" sldId="268"/>
            <ac:spMk id="3" creationId="{00000000-0000-0000-0000-000000000000}"/>
          </ac:spMkLst>
        </pc:spChg>
        <pc:spChg chg="add del mod">
          <ac:chgData name="agus minetti" userId="018d2611e2661143" providerId="LiveId" clId="{AD236E4E-3D7F-4652-8633-67BFCF2E5FF1}" dt="2026-10-23T00:29:10.010" v="3" actId="21"/>
          <ac:spMkLst>
            <pc:docMk/>
            <pc:sldMk cId="0" sldId="268"/>
            <ac:spMk id="7" creationId="{ACB9CB60-F0D4-3D85-F4A8-EC467F2B7084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5EFE0"/>
                </a:solidFill>
                <a:latin typeface="+mn-lt"/>
              </a:defRPr>
            </a:pPr>
            <a:r>
              <a:rPr lang="es-ES" sz="1300" b="0" i="0" u="none" strike="noStrike">
                <a:solidFill>
                  <a:srgbClr val="F5EFE0"/>
                </a:solidFill>
                <a:latin typeface="+mn-lt"/>
              </a:rPr>
              <a:t>Acciones mínimas para resolver cada nivel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Acciones cooperativas mínimas</c:v>
                </c:pt>
              </c:strCache>
            </c:strRef>
          </c:tx>
          <c:spPr>
            <a:solidFill>
              <a:srgbClr val="FFD16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5EFE0"/>
                    </a:solidFill>
                    <a:latin typeface="+mn-lt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08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8</c:v>
                </c:pt>
                <c:pt idx="5">
                  <c:v>7</c:v>
                </c:pt>
                <c:pt idx="6">
                  <c:v>8</c:v>
                </c:pt>
                <c:pt idx="7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21-4230-8A3C-D084EA16133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C9B8E8"/>
                    </a:solidFill>
                    <a:latin typeface="Arial"/>
                  </a:defRPr>
                </a:pPr>
                <a:r>
                  <a:rPr lang="es-ES" sz="1200" b="0" i="0" u="none" strike="noStrike">
                    <a:solidFill>
                      <a:srgbClr val="C9B8E8"/>
                    </a:solidFill>
                    <a:latin typeface="Arial"/>
                  </a:rPr>
                  <a:t>Nivel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9B8E8"/>
                </a:solidFill>
                <a:latin typeface="+mn-lt"/>
              </a:defRPr>
            </a:pPr>
            <a:endParaRPr lang="es-E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</c:scaling>
        <c:delete val="0"/>
        <c:axPos val="l"/>
        <c:majorGridlines>
          <c:spPr>
            <a:ln w="12700" cap="flat">
              <a:solidFill>
                <a:srgbClr val="2A23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9B8E8"/>
                </a:solidFill>
                <a:latin typeface="+mn-lt"/>
              </a:defRPr>
            </a:pPr>
            <a:endParaRPr lang="es-E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5640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Lumo y Umbra: un juego de plataformas y puzzles donde dos espíritus opuestos, una luz y una sombra, tienen que escapar juntos de unas ruinas al atardecer.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un plataformero cooperativo de puzzles, en la línea de los juegos de dos personajes con habilidades opuestas. Se juega de a dos en el mismo teclado, o de a uno cambiando de personaje con Tab. Son ocho niveles que entran en una sola pantalla.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Lumo es la luz y Umbra la sombra. Cada uno tiene sus teclas. La regla visual del juego es simple: todo lo que lleva un sol lo puede tocar Lumo, y todo lo que lleva una luna lo puede tocar Umbra.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Hay tres peligros. El pozo de luz, dorado y brillante, solo lo puede pisar Lumo. El pozo de sombra, de humo violeta, solo Umbra. Y el abismo mata a los dos. Por eso cada uno tiene que tomar su propio camino.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cooperación viene de los mecanismos. Un botón abre las compuertas de su mismo color, pero solo mientras alguien lo pisa: uno sostiene y el otro pasa. La palanca, en cambio, deja el cambio fijo, y eso permite puzzles de orden de acciones.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cristal y la barrera son simétricos: cada personaje puede romper lo que frena al otro. Así, muchas veces el camino de uno depende de que el otro llegue antes. Las gemas son opcionales y cuentan para las estrellas.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gana cuando los dos están sobre su puerta al mismo tiempo. Si cualquiera muere, el nivel se reinicia para los dos. Cada nivel da hasta tres estrellas: por terminarlo, por juntar todas las gemas y por hacerlo bajo el tiempo objetivo. El progreso se guarda en el navegador.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gráfico muestra cuántas acciones cooperativas hacen falta como mínimo en cada nivel: pisar un botón, mover una palanca o disolver un bloque, según nuestro verificador automático. El nivel 2 baja a propósito porque es el nivel para aprender qué pisa cada uno. Después la cooperación crece hasta los niveles 5 y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nivel presenta o combina una mecánica. Los primeros enseñan con carteles dentro del escenario, y del cuarto en adelante el foco está en coordinarse.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primer nivel enseña a moverse y saltar, y presenta la cooperación con una sola compuerta: un botón de cada lado del muro, así que se turnan para cruzar.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el nivel 5 los personajes están separados en dos torres. Los botones de cada torre abren las compuertas de la otra, así que nadie puede subir solo: tienen que turnarse seis veces.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último nivel combina todo. La clave es el orden: la palanca verde abre la torre final, pero también abre las piedras verdes del abismo, así que Umbra tiene que cruzar antes de que la enciendan.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Gracias. Si quieren, lo podemos jugar en vivo: uno con A, D y W, y el otro con las flechas.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5400" b="1" dirty="0">
                <a:solidFill>
                  <a:schemeClr val="accent1"/>
                </a:solidFill>
              </a:defRPr>
            </a:lvl1pPr>
          </a:lstStyle>
          <a:p>
            <a:pPr marL="0" indent="0" algn="ctr">
              <a:buNone/>
            </a:pP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914400" y="2240280"/>
            <a:ext cx="73152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accent1"/>
                </a:solidFill>
              </a:rPr>
              <a:t>Lumo y Umbra</a:t>
            </a: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914400" y="2240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1"/>
                </a:solidFill>
              </a:rPr>
              <a:t>Plataformero cooperativo de puzzles para dos jugadores</a:t>
            </a:r>
            <a:endParaRPr lang="en-US" sz="2000" dirty="0"/>
          </a:p>
        </p:txBody>
      </p:sp>
      <p:pic>
        <p:nvPicPr>
          <p:cNvPr id="4" name="Lumo" descr="/tmp/claude-0/-home-claude/8a6db7fa-5d0c-5ce1-a45b-d9e53ff0b6c9/scratchpad/deck/img/l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2880360"/>
            <a:ext cx="1005840" cy="1257300"/>
          </a:xfrm>
          <a:prstGeom prst="rect">
            <a:avLst/>
          </a:prstGeom>
        </p:spPr>
      </p:pic>
      <p:pic>
        <p:nvPicPr>
          <p:cNvPr id="5" name="Umbra" descr="/tmp/claude-0/-home-claude/8a6db7fa-5d0c-5ce1-a45b-d9e53ff0b6c9/scratchpad/deck/img/umb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880360"/>
            <a:ext cx="1005840" cy="1257300"/>
          </a:xfrm>
          <a:prstGeom prst="rect">
            <a:avLst/>
          </a:prstGeom>
        </p:spPr>
      </p:pic>
      <p:sp>
        <p:nvSpPr>
          <p:cNvPr id="6" name="Autores"/>
          <p:cNvSpPr txBox="1"/>
          <p:nvPr/>
        </p:nvSpPr>
        <p:spPr>
          <a:xfrm>
            <a:off x="91440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Agustín Minetti · Sebastián Sujeros · Desarrollo Tecnológico 2 ·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Género y propuesta</a:t>
            </a:r>
            <a:endParaRPr lang="en-US" sz="3000" dirty="0"/>
          </a:p>
        </p:txBody>
      </p:sp>
      <p:sp>
        <p:nvSpPr>
          <p:cNvPr id="3" name="Fila Género"/>
          <p:cNvSpPr/>
          <p:nvPr/>
        </p:nvSpPr>
        <p:spPr>
          <a:xfrm>
            <a:off x="457200" y="1188720"/>
            <a:ext cx="393192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Género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361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Plataformas + puzzles cooperativos</a:t>
            </a:r>
            <a:endParaRPr lang="en-US" sz="1400" dirty="0"/>
          </a:p>
        </p:txBody>
      </p:sp>
      <p:sp>
        <p:nvSpPr>
          <p:cNvPr id="6" name="Fila Jugadores"/>
          <p:cNvSpPr/>
          <p:nvPr/>
        </p:nvSpPr>
        <p:spPr>
          <a:xfrm>
            <a:off x="457200" y="2057400"/>
            <a:ext cx="393192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148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Jugadores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048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Dos en un teclado, o uno solo con Tab</a:t>
            </a:r>
            <a:endParaRPr lang="en-US" sz="1400" dirty="0"/>
          </a:p>
        </p:txBody>
      </p:sp>
      <p:sp>
        <p:nvSpPr>
          <p:cNvPr id="9" name="Fila Contenido"/>
          <p:cNvSpPr/>
          <p:nvPr/>
        </p:nvSpPr>
        <p:spPr>
          <a:xfrm>
            <a:off x="457200" y="2926080"/>
            <a:ext cx="393192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017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Contenido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2735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8 niveles de una pantalla, con dificultad creciente</a:t>
            </a:r>
            <a:endParaRPr lang="en-US" sz="1400" dirty="0"/>
          </a:p>
        </p:txBody>
      </p:sp>
      <p:sp>
        <p:nvSpPr>
          <p:cNvPr id="12" name="Fila Plataforma"/>
          <p:cNvSpPr/>
          <p:nvPr/>
        </p:nvSpPr>
        <p:spPr>
          <a:xfrm>
            <a:off x="457200" y="3794760"/>
            <a:ext cx="393192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886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Plataforma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1422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Navegador (Phaser 4 + Vite + TypeScript)</a:t>
            </a:r>
            <a:endParaRPr lang="en-US" sz="1400" dirty="0"/>
          </a:p>
        </p:txBody>
      </p:sp>
      <p:pic>
        <p:nvPicPr>
          <p:cNvPr id="15" name="Menú del juego" descr="/tmp/claude-0/-home-claude/8a6db7fa-5d0c-5ce1-a45b-d9e53ff0b6c9/scratchpad/deck/img/men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188720"/>
            <a:ext cx="3931920" cy="2231136"/>
          </a:xfrm>
          <a:prstGeom prst="rect">
            <a:avLst/>
          </a:prstGeom>
        </p:spPr>
      </p:pic>
      <p:sp>
        <p:nvSpPr>
          <p:cNvPr id="16" name="Pitch"/>
          <p:cNvSpPr txBox="1"/>
          <p:nvPr/>
        </p:nvSpPr>
        <p:spPr>
          <a:xfrm>
            <a:off x="4754880" y="36118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"Una luz y una sombra escapan juntas de unas ruinas, donde lo que salva a una puede borrar a la otra."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Dos espíritus opuestos</a:t>
            </a:r>
            <a:endParaRPr lang="en-US" sz="3000" dirty="0"/>
          </a:p>
        </p:txBody>
      </p:sp>
      <p:sp>
        <p:nvSpPr>
          <p:cNvPr id="3" name="Tarjeta Lumo · la luz"/>
          <p:cNvSpPr/>
          <p:nvPr/>
        </p:nvSpPr>
        <p:spPr>
          <a:xfrm>
            <a:off x="457200" y="1188720"/>
            <a:ext cx="40233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Lumo · la luz" descr="/tmp/claude-0/-home-claude/8a6db7fa-5d0c-5ce1-a45b-d9e53ff0b6c9/scratchpad/deck/img/l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1097280" cy="1371600"/>
          </a:xfrm>
          <a:prstGeom prst="rect">
            <a:avLst/>
          </a:prstGeom>
        </p:spPr>
      </p:pic>
      <p:pic>
        <p:nvPicPr>
          <p:cNvPr id="5" name="Emblema Lumo · la luz" descr="/tmp/claude-0/-home-claude/8a6db7fa-5d0c-5ce1-a45b-d9e53ff0b6c9/scratchpad/deck/img/s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063240"/>
            <a:ext cx="640080" cy="6400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103120" y="1417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Lumo · la luz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103120" y="192024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 mueve con A / D y salta con W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Pisa la luz sin peligro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Rompe el cristal oscuro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 apaga en la sombra y cae en el abismo</a:t>
            </a:r>
            <a:endParaRPr lang="en-US" sz="1400" dirty="0"/>
          </a:p>
        </p:txBody>
      </p:sp>
      <p:sp>
        <p:nvSpPr>
          <p:cNvPr id="8" name="Tarjeta Umbra · la sombra"/>
          <p:cNvSpPr/>
          <p:nvPr/>
        </p:nvSpPr>
        <p:spPr>
          <a:xfrm>
            <a:off x="4663440" y="1188720"/>
            <a:ext cx="40233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Umbra · la sombra" descr="/tmp/claude-0/-home-claude/8a6db7fa-5d0c-5ce1-a45b-d9e53ff0b6c9/scratchpad/deck/img/umbr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463040"/>
            <a:ext cx="1097280" cy="1371600"/>
          </a:xfrm>
          <a:prstGeom prst="rect">
            <a:avLst/>
          </a:prstGeom>
        </p:spPr>
      </p:pic>
      <p:pic>
        <p:nvPicPr>
          <p:cNvPr id="10" name="Emblema Umbra · la sombra" descr="/tmp/claude-0/-home-claude/8a6db7fa-5d0c-5ce1-a45b-d9e53ff0b6c9/scratchpad/deck/img/lun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360" y="3063240"/>
            <a:ext cx="640080" cy="64008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6309360" y="1417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Umbra · la sombra</a:t>
            </a:r>
            <a:endParaRPr lang="en-US" sz="1800" dirty="0"/>
          </a:p>
        </p:txBody>
      </p:sp>
      <p:sp>
        <p:nvSpPr>
          <p:cNvPr id="12" name="Text 6"/>
          <p:cNvSpPr txBox="1"/>
          <p:nvPr/>
        </p:nvSpPr>
        <p:spPr>
          <a:xfrm>
            <a:off x="6309360" y="192024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 mueve con ← / → y salta con ↑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Pisa la sombra sin peligro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Apaga la barrera de luz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 disuelve en la luz y cae en el abismo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Lo que salva a uno borra al otro</a:t>
            </a:r>
            <a:endParaRPr lang="en-US" sz="3000" dirty="0"/>
          </a:p>
        </p:txBody>
      </p:sp>
      <p:sp>
        <p:nvSpPr>
          <p:cNvPr id="3" name="Tarjeta Pozo de luz"/>
          <p:cNvSpPr/>
          <p:nvPr/>
        </p:nvSpPr>
        <p:spPr>
          <a:xfrm>
            <a:off x="457200" y="1188720"/>
            <a:ext cx="2560320" cy="32918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Pozo de luz" descr="/tmp/claude-0/-home-claude/8a6db7fa-5d0c-5ce1-a45b-d9e53ff0b6c9/scratchpad/deck/img/pozoLu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17320"/>
            <a:ext cx="1828800" cy="12188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Pozo de luz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2918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Lumo lo pisa · Umbra se disuelve</a:t>
            </a:r>
            <a:endParaRPr lang="en-US" sz="1400" dirty="0"/>
          </a:p>
        </p:txBody>
      </p:sp>
      <p:sp>
        <p:nvSpPr>
          <p:cNvPr id="7" name="Tarjeta Pozo de sombra"/>
          <p:cNvSpPr/>
          <p:nvPr/>
        </p:nvSpPr>
        <p:spPr>
          <a:xfrm>
            <a:off x="3291840" y="1188720"/>
            <a:ext cx="2560320" cy="32918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8" name="Pozo de sombra" descr="/tmp/claude-0/-home-claude/8a6db7fa-5d0c-5ce1-a45b-d9e53ff0b6c9/scratchpad/deck/img/pozoSomb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417320"/>
            <a:ext cx="1828800" cy="12188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/>
                </a:solidFill>
              </a:rPr>
              <a:t>Pozo de sombra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3474720" y="32918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Umbra lo pisa · Lumo se apaga</a:t>
            </a:r>
            <a:endParaRPr lang="en-US" sz="1400" dirty="0"/>
          </a:p>
        </p:txBody>
      </p:sp>
      <p:sp>
        <p:nvSpPr>
          <p:cNvPr id="11" name="Tarjeta Abismo"/>
          <p:cNvSpPr/>
          <p:nvPr/>
        </p:nvSpPr>
        <p:spPr>
          <a:xfrm>
            <a:off x="6126480" y="1188720"/>
            <a:ext cx="2560320" cy="32918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2" name="Abismo" descr="/tmp/claude-0/-home-claude/8a6db7fa-5d0c-5ce1-a45b-d9e53ff0b6c9/scratchpad/deck/img/abism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417320"/>
            <a:ext cx="1828800" cy="121889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30936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Abismo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6309360" y="32918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No lo cruza nadie: los dos caen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Cooperar para avanzar</a:t>
            </a:r>
            <a:endParaRPr lang="en-US" sz="3000" dirty="0"/>
          </a:p>
        </p:txBody>
      </p:sp>
      <p:sp>
        <p:nvSpPr>
          <p:cNvPr id="3" name="Fila Botón"/>
          <p:cNvSpPr/>
          <p:nvPr/>
        </p:nvSpPr>
        <p:spPr>
          <a:xfrm>
            <a:off x="457200" y="1188720"/>
            <a:ext cx="47548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Botón" descr="/tmp/claude-0/-home-claude/8a6db7fa-5d0c-5ce1-a45b-d9e53ff0b6c9/scratchpad/deck/img/boton_roj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23048"/>
            <a:ext cx="777240" cy="29146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91640" y="1325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Botón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691640" y="1645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Abre las compuertas de su color solo mientras alguien lo pisa</a:t>
            </a:r>
            <a:endParaRPr lang="en-US" sz="1400" dirty="0"/>
          </a:p>
        </p:txBody>
      </p:sp>
      <p:sp>
        <p:nvSpPr>
          <p:cNvPr id="7" name="Fila Compuerta"/>
          <p:cNvSpPr/>
          <p:nvPr/>
        </p:nvSpPr>
        <p:spPr>
          <a:xfrm>
            <a:off x="457200" y="2304288"/>
            <a:ext cx="47548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8" name="Compuerta" descr="/tmp/claude-0/-home-claude/8a6db7fa-5d0c-5ce1-a45b-d9e53ff0b6c9/scratchpad/deck/img/compuerta_roj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395728"/>
            <a:ext cx="777240" cy="7772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91640" y="24414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Compuerta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691640" y="27614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Bloquea el paso; se esconde en el muro al abrirse y nunca aplasta</a:t>
            </a:r>
            <a:endParaRPr lang="en-US" sz="1400" dirty="0"/>
          </a:p>
        </p:txBody>
      </p:sp>
      <p:sp>
        <p:nvSpPr>
          <p:cNvPr id="11" name="Fila Palanca"/>
          <p:cNvSpPr/>
          <p:nvPr/>
        </p:nvSpPr>
        <p:spPr>
          <a:xfrm>
            <a:off x="457200" y="3419856"/>
            <a:ext cx="47548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2" name="Palanca" descr="/tmp/claude-0/-home-claude/8a6db7fa-5d0c-5ce1-a45b-d9e53ff0b6c9/scratchpad/deck/img/palanca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608451"/>
            <a:ext cx="777240" cy="58293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91640" y="355701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Palanca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691640" y="387705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Queda encendida o apagada hasta que alguien la vuelva a mover</a:t>
            </a:r>
            <a:endParaRPr lang="en-US" sz="1400" dirty="0"/>
          </a:p>
        </p:txBody>
      </p:sp>
      <p:sp>
        <p:nvSpPr>
          <p:cNvPr id="15" name="Ejemplo de relevo"/>
          <p:cNvSpPr/>
          <p:nvPr/>
        </p:nvSpPr>
        <p:spPr>
          <a:xfrm>
            <a:off x="5486400" y="1188720"/>
            <a:ext cx="3200400" cy="3182112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71500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Ejemplo: el relevo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5715000" y="182880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Uno pisa el botón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El otro cruza la compuerta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Del otro lado pisa otro botón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Ahora pasa el primero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Abrirle camino al otro</a:t>
            </a:r>
            <a:endParaRPr lang="en-US" sz="3000" dirty="0"/>
          </a:p>
        </p:txBody>
      </p:sp>
      <p:sp>
        <p:nvSpPr>
          <p:cNvPr id="3" name="Tarjeta Cristal oscuro"/>
          <p:cNvSpPr/>
          <p:nvPr/>
        </p:nvSpPr>
        <p:spPr>
          <a:xfrm>
            <a:off x="457200" y="1188720"/>
            <a:ext cx="2560320" cy="32918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Cristal oscuro" descr="/tmp/claude-0/-home-claude/8a6db7fa-5d0c-5ce1-a45b-d9e53ff0b6c9/scratchpad/deck/img/cris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41732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Cristal oscuro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1546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Frena a los dos. Lumo lo rompe al tocarlo (lleva un sol)</a:t>
            </a:r>
            <a:endParaRPr lang="en-US" sz="1400" dirty="0"/>
          </a:p>
        </p:txBody>
      </p:sp>
      <p:sp>
        <p:nvSpPr>
          <p:cNvPr id="7" name="Tarjeta Barrera de luz"/>
          <p:cNvSpPr/>
          <p:nvPr/>
        </p:nvSpPr>
        <p:spPr>
          <a:xfrm>
            <a:off x="3291840" y="1188720"/>
            <a:ext cx="2560320" cy="32918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8" name="Barrera de luz" descr="/tmp/claude-0/-home-claude/8a6db7fa-5d0c-5ce1-a45b-d9e53ff0b6c9/scratchpad/deck/img/barre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1417320"/>
            <a:ext cx="1097280" cy="10972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47472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/>
                </a:solidFill>
              </a:rPr>
              <a:t>Barrera de luz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3474720" y="31546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Frena a los dos. Umbra la apaga al tocarla (lleva una luna)</a:t>
            </a:r>
            <a:endParaRPr lang="en-US" sz="1400" dirty="0"/>
          </a:p>
        </p:txBody>
      </p:sp>
      <p:sp>
        <p:nvSpPr>
          <p:cNvPr id="11" name="Tarjeta gemas"/>
          <p:cNvSpPr/>
          <p:nvPr/>
        </p:nvSpPr>
        <p:spPr>
          <a:xfrm>
            <a:off x="6126480" y="1188720"/>
            <a:ext cx="2560320" cy="32918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2" name="Gema dorada" descr="/tmp/claude-0/-home-claude/8a6db7fa-5d0c-5ce1-a45b-d9e53ff0b6c9/scratchpad/deck/img/gemaO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463040"/>
            <a:ext cx="914400" cy="914400"/>
          </a:xfrm>
          <a:prstGeom prst="rect">
            <a:avLst/>
          </a:prstGeom>
        </p:spPr>
      </p:pic>
      <p:pic>
        <p:nvPicPr>
          <p:cNvPr id="13" name="Gema violeta" descr="/tmp/claude-0/-home-claude/8a6db7fa-5d0c-5ce1-a45b-d9e53ff0b6c9/scratchpad/deck/img/gemaViolet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146304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30936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Gemas</a:t>
            </a:r>
            <a:endParaRPr lang="en-US" sz="1800" dirty="0"/>
          </a:p>
        </p:txBody>
      </p:sp>
      <p:sp>
        <p:nvSpPr>
          <p:cNvPr id="15" name="Text 9"/>
          <p:cNvSpPr txBox="1"/>
          <p:nvPr/>
        </p:nvSpPr>
        <p:spPr>
          <a:xfrm>
            <a:off x="6309360" y="31546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Las doradas son de Lumo y las violetas de Umbra. Juntarlas todas da una estrella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Victoria y derrota</a:t>
            </a:r>
            <a:endParaRPr lang="en-US" sz="3000" dirty="0"/>
          </a:p>
        </p:txBody>
      </p:sp>
      <p:sp>
        <p:nvSpPr>
          <p:cNvPr id="3" name="Victoria"/>
          <p:cNvSpPr/>
          <p:nvPr/>
        </p:nvSpPr>
        <p:spPr>
          <a:xfrm>
            <a:off x="457200" y="1188720"/>
            <a:ext cx="39319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Puerta de Lumo" descr="/tmp/claude-0/-home-claude/8a6db7fa-5d0c-5ce1-a45b-d9e53ff0b6c9/scratchpad/deck/img/puertaL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71600"/>
            <a:ext cx="566928" cy="1490472"/>
          </a:xfrm>
          <a:prstGeom prst="rect">
            <a:avLst/>
          </a:prstGeom>
        </p:spPr>
      </p:pic>
      <p:pic>
        <p:nvPicPr>
          <p:cNvPr id="5" name="Puerta de Umbra" descr="/tmp/claude-0/-home-claude/8a6db7fa-5d0c-5ce1-a45b-d9e53ff0b6c9/scratchpad/deck/img/puertaUmb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1371600"/>
            <a:ext cx="566928" cy="149047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148840" y="1371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Victoria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148840" y="17830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Los dos parados al mismo tiempo sobre su puerta: Lumo en la del sol y Umbra en la de la luna</a:t>
            </a:r>
            <a:endParaRPr lang="en-US" sz="1400" dirty="0"/>
          </a:p>
        </p:txBody>
      </p:sp>
      <p:sp>
        <p:nvSpPr>
          <p:cNvPr id="8" name="Derrota"/>
          <p:cNvSpPr/>
          <p:nvPr/>
        </p:nvSpPr>
        <p:spPr>
          <a:xfrm>
            <a:off x="4754880" y="1188720"/>
            <a:ext cx="39319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98348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Derrota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4983480" y="178308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 uno muere, pierden los dos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Explosión de partículas y reinicio a los 0,5 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 R se reinicia cuando quieran</a:t>
            </a:r>
            <a:endParaRPr lang="en-US" sz="1400" dirty="0"/>
          </a:p>
        </p:txBody>
      </p:sp>
      <p:sp>
        <p:nvSpPr>
          <p:cNvPr id="11" name="Estrella 1"/>
          <p:cNvSpPr/>
          <p:nvPr/>
        </p:nvSpPr>
        <p:spPr>
          <a:xfrm>
            <a:off x="457200" y="3520440"/>
            <a:ext cx="25603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40080" y="361188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chemeClr val="accent1"/>
                </a:solidFill>
              </a:rPr>
              <a:t>★</a:t>
            </a:r>
            <a:endParaRPr lang="en-US" sz="4000" dirty="0"/>
          </a:p>
        </p:txBody>
      </p:sp>
      <p:sp>
        <p:nvSpPr>
          <p:cNvPr id="13" name="Text 9"/>
          <p:cNvSpPr txBox="1"/>
          <p:nvPr/>
        </p:nvSpPr>
        <p:spPr>
          <a:xfrm>
            <a:off x="1463040" y="37490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Terminar el nivel</a:t>
            </a:r>
            <a:endParaRPr lang="en-US" sz="1400" dirty="0"/>
          </a:p>
        </p:txBody>
      </p:sp>
      <p:sp>
        <p:nvSpPr>
          <p:cNvPr id="14" name="Estrella 2"/>
          <p:cNvSpPr/>
          <p:nvPr/>
        </p:nvSpPr>
        <p:spPr>
          <a:xfrm>
            <a:off x="3291840" y="3520440"/>
            <a:ext cx="25603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474720" y="361188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chemeClr val="accent1"/>
                </a:solidFill>
              </a:rPr>
              <a:t>★</a:t>
            </a:r>
            <a:endParaRPr lang="en-US" sz="4000" dirty="0"/>
          </a:p>
        </p:txBody>
      </p:sp>
      <p:sp>
        <p:nvSpPr>
          <p:cNvPr id="16" name="Text 12"/>
          <p:cNvSpPr txBox="1"/>
          <p:nvPr/>
        </p:nvSpPr>
        <p:spPr>
          <a:xfrm>
            <a:off x="4297680" y="37490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Todas las gemas</a:t>
            </a:r>
            <a:endParaRPr lang="en-US" sz="1400" dirty="0"/>
          </a:p>
        </p:txBody>
      </p:sp>
      <p:sp>
        <p:nvSpPr>
          <p:cNvPr id="17" name="Estrella 3"/>
          <p:cNvSpPr/>
          <p:nvPr/>
        </p:nvSpPr>
        <p:spPr>
          <a:xfrm>
            <a:off x="6126480" y="3520440"/>
            <a:ext cx="25603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309360" y="361188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chemeClr val="accent1"/>
                </a:solidFill>
              </a:rPr>
              <a:t>★</a:t>
            </a:r>
            <a:endParaRPr lang="en-US" sz="4000" dirty="0"/>
          </a:p>
        </p:txBody>
      </p:sp>
      <p:sp>
        <p:nvSpPr>
          <p:cNvPr id="19" name="Text 15"/>
          <p:cNvSpPr txBox="1"/>
          <p:nvPr/>
        </p:nvSpPr>
        <p:spPr>
          <a:xfrm>
            <a:off x="7132320" y="37490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Bajo el tiempo objetivo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Progresión de dificultad</a:t>
            </a:r>
            <a:endParaRPr lang="en-US" sz="3000" dirty="0"/>
          </a:p>
        </p:txBody>
      </p:sp>
      <p:graphicFrame>
        <p:nvGraphicFramePr>
          <p:cNvPr id="3" name="Gráfico de dificultad"/>
          <p:cNvGraphicFramePr/>
          <p:nvPr/>
        </p:nvGraphicFramePr>
        <p:xfrm>
          <a:off x="457200" y="1097280"/>
          <a:ext cx="51206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Lectura del gráfico"/>
          <p:cNvSpPr/>
          <p:nvPr/>
        </p:nvSpPr>
        <p:spPr>
          <a:xfrm>
            <a:off x="5852160" y="1188720"/>
            <a:ext cx="2834640" cy="32918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035040" y="13716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1–3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675120" y="138988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Aprender: saltar, pozos y abismo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212140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4–5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675120" y="2139696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Turnarse: relevos de botones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035040" y="287121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6–7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2889504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Abrirse camino y pensar el orden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035040" y="362102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8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675120" y="363931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Todo junto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Ocho niveles, una idea por nivel</a:t>
            </a:r>
            <a:endParaRPr lang="en-US" sz="3000" dirty="0"/>
          </a:p>
        </p:txBody>
      </p:sp>
      <p:pic>
        <p:nvPicPr>
          <p:cNvPr id="3" name="Nivel 01" descr="/tmp/claude-0/-home-claude/8a6db7fa-5d0c-5ce1-a45b-d9e53ff0b6c9/scratchpad/deck/img/nivel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1920240" cy="10881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2249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01 · Primeros pasos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514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compuerta cooperativa</a:t>
            </a:r>
            <a:endParaRPr lang="en-US" sz="1100" dirty="0"/>
          </a:p>
        </p:txBody>
      </p:sp>
      <p:pic>
        <p:nvPicPr>
          <p:cNvPr id="6" name="Nivel 02" descr="/tmp/claude-0/-home-claude/8a6db7fa-5d0c-5ce1-a45b-d9e53ff0b6c9/scratchpad/deck/img/nivel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1097280"/>
            <a:ext cx="1920240" cy="10881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560320" y="2249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02 · No toques eso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2560320" y="2514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pozos de luz y sombra</a:t>
            </a:r>
            <a:endParaRPr lang="en-US" sz="1100" dirty="0"/>
          </a:p>
        </p:txBody>
      </p:sp>
      <p:pic>
        <p:nvPicPr>
          <p:cNvPr id="9" name="Nivel 03" descr="/tmp/claude-0/-home-claude/8a6db7fa-5d0c-5ce1-a45b-d9e53ff0b6c9/scratchpad/deck/img/nivel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1097280"/>
            <a:ext cx="1920240" cy="108813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663440" y="2249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03 · Cuidado los dos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4663440" y="2514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abismo con piedras</a:t>
            </a:r>
            <a:endParaRPr lang="en-US" sz="1100" dirty="0"/>
          </a:p>
        </p:txBody>
      </p:sp>
      <p:pic>
        <p:nvPicPr>
          <p:cNvPr id="12" name="Nivel 04" descr="/tmp/claude-0/-home-claude/8a6db7fa-5d0c-5ce1-a45b-d9e53ff0b6c9/scratchpad/deck/img/nivel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1097280"/>
            <a:ext cx="1920240" cy="1088136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766560" y="2249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04 · Mantenelo apretado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6766560" y="2514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relevo de botones</a:t>
            </a:r>
            <a:endParaRPr lang="en-US" sz="1100" dirty="0"/>
          </a:p>
        </p:txBody>
      </p:sp>
      <p:pic>
        <p:nvPicPr>
          <p:cNvPr id="15" name="Nivel 05" descr="/tmp/claude-0/-home-claude/8a6db7fa-5d0c-5ce1-a45b-d9e53ff0b6c9/scratchpad/deck/img/nivel0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971800"/>
            <a:ext cx="1920240" cy="1088136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457200" y="41239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05 · Ida y vuelta</a:t>
            </a:r>
            <a:endParaRPr lang="en-US" sz="1200" dirty="0"/>
          </a:p>
        </p:txBody>
      </p:sp>
      <p:sp>
        <p:nvSpPr>
          <p:cNvPr id="17" name="Text 10"/>
          <p:cNvSpPr txBox="1"/>
          <p:nvPr/>
        </p:nvSpPr>
        <p:spPr>
          <a:xfrm>
            <a:off x="457200" y="4389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botones cruzados</a:t>
            </a:r>
            <a:endParaRPr lang="en-US" sz="1100" dirty="0"/>
          </a:p>
        </p:txBody>
      </p:sp>
      <p:pic>
        <p:nvPicPr>
          <p:cNvPr id="18" name="Nivel 06" descr="/tmp/claude-0/-home-claude/8a6db7fa-5d0c-5ce1-a45b-d9e53ff0b6c9/scratchpad/deck/img/nivel0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60320" y="2971800"/>
            <a:ext cx="1920240" cy="1088136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2560320" y="41239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06 · Disolver y apagar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2560320" y="4389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cristal y barrera</a:t>
            </a:r>
            <a:endParaRPr lang="en-US" sz="1100" dirty="0"/>
          </a:p>
        </p:txBody>
      </p:sp>
      <p:pic>
        <p:nvPicPr>
          <p:cNvPr id="21" name="Nivel 07" descr="/tmp/claude-0/-home-claude/8a6db7fa-5d0c-5ce1-a45b-d9e53ff0b6c9/scratchpad/deck/img/nivel0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3440" y="2971800"/>
            <a:ext cx="1920240" cy="1088136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4663440" y="41239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07 · Palancas</a:t>
            </a:r>
            <a:endParaRPr lang="en-US" sz="1200" dirty="0"/>
          </a:p>
        </p:txBody>
      </p:sp>
      <p:sp>
        <p:nvSpPr>
          <p:cNvPr id="23" name="Text 14"/>
          <p:cNvSpPr txBox="1"/>
          <p:nvPr/>
        </p:nvSpPr>
        <p:spPr>
          <a:xfrm>
            <a:off x="4663440" y="4389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orden de acciones</a:t>
            </a:r>
            <a:endParaRPr lang="en-US" sz="1100" dirty="0"/>
          </a:p>
        </p:txBody>
      </p:sp>
      <p:pic>
        <p:nvPicPr>
          <p:cNvPr id="24" name="Nivel 08" descr="/tmp/claude-0/-home-claude/8a6db7fa-5d0c-5ce1-a45b-d9e53ff0b6c9/scratchpad/deck/img/nivel0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6560" y="2971800"/>
            <a:ext cx="1920240" cy="1088136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6766560" y="41239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08 · Las ruinas</a:t>
            </a:r>
            <a:endParaRPr lang="en-US" sz="1200" dirty="0"/>
          </a:p>
        </p:txBody>
      </p:sp>
      <p:sp>
        <p:nvSpPr>
          <p:cNvPr id="26" name="Text 16"/>
          <p:cNvSpPr txBox="1"/>
          <p:nvPr/>
        </p:nvSpPr>
        <p:spPr>
          <a:xfrm>
            <a:off x="6766560" y="4389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todo junto</a:t>
            </a:r>
            <a:endParaRPr lang="en-US" sz="11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Nivel 1 · Primeros pasos</a:t>
            </a:r>
            <a:endParaRPr lang="en-US" sz="3000" dirty="0"/>
          </a:p>
        </p:txBody>
      </p:sp>
      <p:pic>
        <p:nvPicPr>
          <p:cNvPr id="3" name="Captura nivel 01" descr="/tmp/claude-0/-home-claude/8a6db7fa-5d0c-5ce1-a45b-d9e53ff0b6c9/scratchpad/deck/img/nivel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5760720" cy="3264408"/>
          </a:xfrm>
          <a:prstGeom prst="rect">
            <a:avLst/>
          </a:prstGeom>
        </p:spPr>
      </p:pic>
      <p:sp>
        <p:nvSpPr>
          <p:cNvPr id="4" name="Notas nivel 01"/>
          <p:cNvSpPr/>
          <p:nvPr/>
        </p:nvSpPr>
        <p:spPr>
          <a:xfrm>
            <a:off x="6446520" y="1097280"/>
            <a:ext cx="2240280" cy="3264408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0" y="1280160"/>
            <a:ext cx="1965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Carteles con los controles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Escalones para aprender a saltar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Muro con compuerta: uno pisa el botón y el otro pasa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Templo con las dos puertas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Nivel 5 · Ida y vuelta</a:t>
            </a:r>
            <a:endParaRPr lang="en-US" sz="3000" dirty="0"/>
          </a:p>
        </p:txBody>
      </p:sp>
      <p:pic>
        <p:nvPicPr>
          <p:cNvPr id="3" name="Captura nivel 05" descr="/tmp/claude-0/-home-claude/8a6db7fa-5d0c-5ce1-a45b-d9e53ff0b6c9/scratchpad/deck/img/nivel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5760720" cy="3264408"/>
          </a:xfrm>
          <a:prstGeom prst="rect">
            <a:avLst/>
          </a:prstGeom>
        </p:spPr>
      </p:pic>
      <p:sp>
        <p:nvSpPr>
          <p:cNvPr id="4" name="Notas nivel 05"/>
          <p:cNvSpPr/>
          <p:nvPr/>
        </p:nvSpPr>
        <p:spPr>
          <a:xfrm>
            <a:off x="6446520" y="1097280"/>
            <a:ext cx="2240280" cy="3264408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0" y="1280160"/>
            <a:ext cx="1965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Dos torres separadas por un muro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Cada torre tiene los botones de la otra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Seis turnos para llegar arriba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Nivel 8 · Las ruinas</a:t>
            </a:r>
            <a:endParaRPr lang="en-US" sz="3000" dirty="0"/>
          </a:p>
        </p:txBody>
      </p:sp>
      <p:pic>
        <p:nvPicPr>
          <p:cNvPr id="3" name="Captura nivel 08" descr="/tmp/claude-0/-home-claude/8a6db7fa-5d0c-5ce1-a45b-d9e53ff0b6c9/scratchpad/deck/img/nivel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5760720" cy="3264408"/>
          </a:xfrm>
          <a:prstGeom prst="rect">
            <a:avLst/>
          </a:prstGeom>
        </p:spPr>
      </p:pic>
      <p:sp>
        <p:nvSpPr>
          <p:cNvPr id="4" name="Notas nivel 08"/>
          <p:cNvSpPr/>
          <p:nvPr/>
        </p:nvSpPr>
        <p:spPr>
          <a:xfrm>
            <a:off x="6446520" y="1097280"/>
            <a:ext cx="2240280" cy="3264408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0" y="1280160"/>
            <a:ext cx="1965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Pozos, abismo, botones, palanca, cristal y barrera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 palanca verde abre la torre… y también las piedras del abismo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Umbra tiene que cruzar antes de encenderla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accent1"/>
                </a:solidFill>
              </a:rPr>
              <a:t>¡Gracias!</a:t>
            </a:r>
            <a:endParaRPr lang="en-US" sz="5400" dirty="0"/>
          </a:p>
        </p:txBody>
      </p:sp>
      <p:pic>
        <p:nvPicPr>
          <p:cNvPr id="4" name="Lumo" descr="/tmp/claude-0/-home-claude/8a6db7fa-5d0c-5ce1-a45b-d9e53ff0b6c9/scratchpad/deck/img/l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2880360"/>
            <a:ext cx="1005840" cy="1257300"/>
          </a:xfrm>
          <a:prstGeom prst="rect">
            <a:avLst/>
          </a:prstGeom>
        </p:spPr>
      </p:pic>
      <p:pic>
        <p:nvPicPr>
          <p:cNvPr id="5" name="Umbra" descr="/tmp/claude-0/-home-claude/8a6db7fa-5d0c-5ce1-a45b-d9e53ff0b6c9/scratchpad/deck/img/umb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880360"/>
            <a:ext cx="1005840" cy="1257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umo y Umbra">
  <a:themeElements>
    <a:clrScheme name="Lumo y Umbra">
      <a:dk1>
        <a:srgbClr val="F5EFE0"/>
      </a:dk1>
      <a:lt1>
        <a:srgbClr val="1A1626"/>
      </a:lt1>
      <a:dk2>
        <a:srgbClr val="C9B8E8"/>
      </a:dk2>
      <a:lt2>
        <a:srgbClr val="2A2340"/>
      </a:lt2>
      <a:accent1>
        <a:srgbClr val="FFD166"/>
      </a:accent1>
      <a:accent2>
        <a:srgbClr val="C9A6FF"/>
      </a:accent2>
      <a:accent3>
        <a:srgbClr val="E0705C"/>
      </a:accent3>
      <a:accent4>
        <a:srgbClr val="5C8FE0"/>
      </a:accent4>
      <a:accent5>
        <a:srgbClr val="6FBF73"/>
      </a:accent5>
      <a:accent6>
        <a:srgbClr val="F0A030"/>
      </a:accent6>
      <a:hlink>
        <a:srgbClr val="FFD166"/>
      </a:hlink>
      <a:folHlink>
        <a:srgbClr val="C9A6FF"/>
      </a:folHlink>
    </a:clrScheme>
    <a:fontScheme name="Lumo y Umbra">
      <a:majorFont>
        <a:latin typeface="Bookman Old Sty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1145</Words>
  <Application>Microsoft Office PowerPoint</Application>
  <PresentationFormat>Presentación en pantalla (16:9)</PresentationFormat>
  <Paragraphs>142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Calibri</vt:lpstr>
      <vt:lpstr>Lumo y Umbra</vt:lpstr>
      <vt:lpstr>Lumo y Umbra</vt:lpstr>
      <vt:lpstr>Género y propuesta</vt:lpstr>
      <vt:lpstr>Dos espíritus opuestos</vt:lpstr>
      <vt:lpstr>Lo que salva a uno borra al otro</vt:lpstr>
      <vt:lpstr>Cooperar para avanzar</vt:lpstr>
      <vt:lpstr>Abrirle camino al otro</vt:lpstr>
      <vt:lpstr>Victoria y derrota</vt:lpstr>
      <vt:lpstr>Progresión de dificultad</vt:lpstr>
      <vt:lpstr>Ocho niveles, una idea por nivel</vt:lpstr>
      <vt:lpstr>Nivel 1 · Primeros pasos</vt:lpstr>
      <vt:lpstr>Nivel 5 · Ida y vuelta</vt:lpstr>
      <vt:lpstr>Nivel 8 · Las ruinas</vt:lpstr>
      <vt:lpstr>¡Gracias!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Lumo y Umbra</dc:title>
  <dc:subject>PptxGenJS Presentation</dc:subject>
  <dc:creator>Agustín Minetti y Sebastián Sujeros</dc:creator>
  <cp:lastModifiedBy>agus minetti</cp:lastModifiedBy>
  <cp:revision>1</cp:revision>
  <dcterms:created xsi:type="dcterms:W3CDTF">2026-10-21T14:51:13Z</dcterms:created>
  <dcterms:modified xsi:type="dcterms:W3CDTF">2026-10-23T00:29:27Z</dcterms:modified>
</cp:coreProperties>
</file>